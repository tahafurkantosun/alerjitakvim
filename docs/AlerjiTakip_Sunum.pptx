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3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365760"/>
            <a:ext cx="1005840" cy="1005840"/>
          </a:xfrm>
          <a:prstGeom prst="ellipse">
            <a:avLst/>
          </a:prstGeom>
          <a:solidFill>
            <a:srgbClr val="BD9A4E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548640"/>
            <a:ext cx="640080" cy="640080"/>
          </a:xfrm>
          <a:prstGeom prst="ellipse">
            <a:avLst/>
          </a:prstGeom>
          <a:solidFill>
            <a:srgbClr val="283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1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Alerji Takip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2A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Polen Takip Paneli — yapay zekâ destekli alerji asistanı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731520" cy="45720"/>
          </a:xfrm>
          <a:prstGeom prst="rect">
            <a:avLst/>
          </a:prstGeom>
          <a:solidFill>
            <a:srgbClr val="BD9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Tam-yığın · React + Express + PostgreSQL + AI/RAG  ·  Proje sunumu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F8A48"/>
          </a:solidFill>
          <a:ln w="12700">
            <a:solidFill>
              <a:srgbClr val="5F8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Türkiye'de polen alerjisi olanlar için mevcut alternatifler üç açıdan yetersiz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51760" cy="320040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73152" cy="3200400"/>
          </a:xfrm>
          <a:prstGeom prst="rect">
            <a:avLst/>
          </a:prstGeom>
          <a:solidFill>
            <a:srgbClr val="BD9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220"/>
                </a:solidFill>
              </a:rPr>
              <a:t>Türkçe içerik az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F49"/>
                </a:solidFill>
              </a:rPr>
              <a:t>Çoğu polen uygulaması İngilizce ya da batı odaklı; Türkiye için yerel polen verisi zayıf veya yok.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651760" cy="320040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508760"/>
            <a:ext cx="73152" cy="3200400"/>
          </a:xfrm>
          <a:prstGeom prst="rect">
            <a:avLst/>
          </a:prstGeom>
          <a:solidFill>
            <a:srgbClr val="BD9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691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220"/>
                </a:solidFill>
              </a:rPr>
              <a:t>Genel hava durumu UX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28600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F49"/>
                </a:solidFill>
              </a:rPr>
              <a:t>Polen verisi hava menülerine gömülü; alerjen-özelinde uyarı, mevsimsel bağlam ve doğrudan asistan yok.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2651760" cy="320040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508760"/>
            <a:ext cx="73152" cy="3200400"/>
          </a:xfrm>
          <a:prstGeom prst="rect">
            <a:avLst/>
          </a:prstGeom>
          <a:solidFill>
            <a:srgbClr val="BD9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91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3220"/>
                </a:solidFill>
              </a:rPr>
              <a:t>Kaynaksız AI sohbeti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228600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F49"/>
                </a:solidFill>
              </a:rPr>
              <a:t>Mevcut chat bot'ları halüsinasyon yapıyor; tıbbi öneri için referans göstermiyor, Türkçe'de dil kayması yaygın.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F8A48"/>
          </a:solidFill>
          <a:ln w="12700">
            <a:solidFill>
              <a:srgbClr val="5F8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 — üç temel sütun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08760" y="1463040"/>
            <a:ext cx="777240" cy="777240"/>
          </a:xfrm>
          <a:prstGeom prst="ellipse">
            <a:avLst/>
          </a:prstGeom>
          <a:solidFill>
            <a:srgbClr val="5F8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3220"/>
                </a:solidFill>
              </a:rPr>
              <a:t>Konum-spesifik polen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F49"/>
                </a:solidFill>
              </a:rPr>
              <a:t>Google Pollen API + Open-Meteo CAMS fallback; Türkiye geneli + serbest harita konumu (snap yok).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777240" cy="777240"/>
          </a:xfrm>
          <a:prstGeom prst="ellipse">
            <a:avLst/>
          </a:prstGeom>
          <a:solidFill>
            <a:srgbClr val="5F8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0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3220"/>
                </a:solidFill>
              </a:rPr>
              <a:t>RAG destekli AI asistan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29718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F49"/>
                </a:solidFill>
              </a:rPr>
              <a:t>Groq Llama / GPT-OSS; sistem promptuna bilimsel kaynak + canlı polen değerleri enjekte.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78040" y="1463040"/>
            <a:ext cx="777240" cy="777240"/>
          </a:xfrm>
          <a:prstGeom prst="ellipse">
            <a:avLst/>
          </a:prstGeom>
          <a:solidFill>
            <a:srgbClr val="5F8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3220"/>
                </a:solidFill>
              </a:rPr>
              <a:t>Adil günlük kota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17920" y="29718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F49"/>
                </a:solidFill>
              </a:rPr>
              <a:t>Misafir dener (3/3); ücretsiz üye 10+5; premium sınırsız. iyzico canlıya hazır.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F8A48"/>
          </a:solidFill>
          <a:ln w="12700">
            <a:solidFill>
              <a:srgbClr val="5F8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uygulama + dört dış servis; modüler Express katmanı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926080" cy="128016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27632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220"/>
                </a:solidFill>
              </a:rPr>
              <a:t>Frontend — React 19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965960"/>
            <a:ext cx="2706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F49"/>
                </a:solidFill>
              </a:rPr>
              <a:t>Context: Theme · Auth · Usage · Pollen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25F49"/>
                </a:solidFill>
              </a:rPr>
              <a:t>AccountMenu · Chatbot · UpgradeModal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2926080" cy="1554480"/>
          </a:xfrm>
          <a:prstGeom prst="rect">
            <a:avLst/>
          </a:prstGeom>
          <a:solidFill>
            <a:srgbClr val="5F8A48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090672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EBDD"/>
                </a:solidFill>
              </a:rPr>
              <a:t>Express API (modüler)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3429000"/>
            <a:ext cx="2706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D6CA"/>
                </a:solidFill>
              </a:rPr>
              <a:t>Routes: auth · usage · membership · pollen · chat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9D6CA"/>
                </a:solidFill>
              </a:rPr>
              <a:t>Middleware: security · quota · errorHandler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69080" y="1554480"/>
            <a:ext cx="4572000" cy="77724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78808" y="1627632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220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78808" y="1965960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F49"/>
                </a:solidFill>
              </a:rPr>
              <a:t>users · usage_daily · payments · jsonb · atomik upsert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69080" y="2423160"/>
            <a:ext cx="4572000" cy="77724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78808" y="2496312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220"/>
                </a:solidFill>
              </a:rPr>
              <a:t>Polen sağlayıcılar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78808" y="2834640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F49"/>
                </a:solidFill>
              </a:rPr>
              <a:t>Google Pollen API → Open-Meteo CAMS (fallback)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69080" y="3291840"/>
            <a:ext cx="4572000" cy="77724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78808" y="3364992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220"/>
                </a:solidFill>
              </a:rPr>
              <a:t>Groq + RAG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78808" y="3703320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F49"/>
                </a:solidFill>
              </a:rPr>
              <a:t>Llama / GPT-OSS · vektör mağaza (HF embedding) · k=3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69080" y="4160520"/>
            <a:ext cx="4572000" cy="50292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78808" y="4233672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220"/>
                </a:solidFill>
              </a:rPr>
              <a:t>iyzico (opsiyonel)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78808" y="4572000"/>
            <a:ext cx="4352544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F49"/>
                </a:solidFill>
              </a:rPr>
              <a:t>Simüle ↔ canlı (PAYMENT_MODE=iyzico, npm i iyzipay)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3794760"/>
            <a:ext cx="548640" cy="0"/>
          </a:xfrm>
          <a:prstGeom prst="line">
            <a:avLst/>
          </a:prstGeom>
          <a:noFill/>
          <a:ln w="25400">
            <a:solidFill>
              <a:srgbClr val="BD9A4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F8A48"/>
          </a:solidFill>
          <a:ln w="12700">
            <a:solidFill>
              <a:srgbClr val="5F8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yığını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023360" cy="68580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73152" cy="685800"/>
          </a:xfrm>
          <a:prstGeom prst="rect">
            <a:avLst/>
          </a:prstGeom>
          <a:solidFill>
            <a:srgbClr val="5F8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36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220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8105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F49"/>
                </a:solidFill>
              </a:rPr>
              <a:t>React 19 · Vite · Recharts · React-Leaflet · Tailwind 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4023360" cy="68580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463040"/>
            <a:ext cx="73152" cy="685800"/>
          </a:xfrm>
          <a:prstGeom prst="rect">
            <a:avLst/>
          </a:prstGeom>
          <a:solidFill>
            <a:srgbClr val="5F8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536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220"/>
                </a:solidFill>
              </a:rPr>
              <a:t>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0328" y="18105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F49"/>
                </a:solidFill>
              </a:rPr>
              <a:t>Node ≥ 18 · Express · helmet · express-rate-limit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4023360" cy="68580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240280"/>
            <a:ext cx="73152" cy="685800"/>
          </a:xfrm>
          <a:prstGeom prst="rect">
            <a:avLst/>
          </a:prstGeom>
          <a:solidFill>
            <a:srgbClr val="5F8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313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220"/>
                </a:solidFill>
              </a:rPr>
              <a:t>Auth &amp; güvenlik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2587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F49"/>
                </a:solidFill>
              </a:rPr>
              <a:t>bcryptjs · jsonwebtoken · CORS allowlist · env doğrulama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4023360" cy="68580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240280"/>
            <a:ext cx="73152" cy="685800"/>
          </a:xfrm>
          <a:prstGeom prst="rect">
            <a:avLst/>
          </a:prstGeom>
          <a:solidFill>
            <a:srgbClr val="5F8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2313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220"/>
                </a:solidFill>
              </a:rPr>
              <a:t>Veritabanı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0328" y="2587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F49"/>
                </a:solidFill>
              </a:rPr>
              <a:t>PostgreSQL · pg pool · atomik upsert · jsonb · graceful shutdown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4023360" cy="68580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017520"/>
            <a:ext cx="73152" cy="685800"/>
          </a:xfrm>
          <a:prstGeom prst="rect">
            <a:avLst/>
          </a:prstGeom>
          <a:solidFill>
            <a:srgbClr val="5F8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220"/>
                </a:solidFill>
              </a:rPr>
              <a:t>AI / RAG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3364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F49"/>
                </a:solidFill>
              </a:rPr>
              <a:t>groq-sdk (Llama, GPT-OSS) · HuggingFace embedding · vector-store.json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023360" cy="68580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017520"/>
            <a:ext cx="73152" cy="685800"/>
          </a:xfrm>
          <a:prstGeom prst="rect">
            <a:avLst/>
          </a:prstGeom>
          <a:solidFill>
            <a:srgbClr val="5F8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220"/>
                </a:solidFill>
              </a:rPr>
              <a:t>Polen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0328" y="3364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F49"/>
                </a:solidFill>
              </a:rPr>
              <a:t>Google Pollen API + Open-Meteo CAMS Europe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794760"/>
            <a:ext cx="4023360" cy="68580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794760"/>
            <a:ext cx="73152" cy="685800"/>
          </a:xfrm>
          <a:prstGeom prst="rect">
            <a:avLst/>
          </a:prstGeom>
          <a:solidFill>
            <a:srgbClr val="5F8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867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220"/>
                </a:solidFill>
              </a:rPr>
              <a:t>Ödeme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" y="4142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F49"/>
                </a:solidFill>
              </a:rPr>
              <a:t>iyzipay (opsiyonel) · PAYMENT_MODE = simulate | iyzico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794760"/>
            <a:ext cx="4023360" cy="68580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3794760"/>
            <a:ext cx="73152" cy="685800"/>
          </a:xfrm>
          <a:prstGeom prst="rect">
            <a:avLst/>
          </a:prstGeom>
          <a:solidFill>
            <a:srgbClr val="5F8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3867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220"/>
                </a:solidFill>
              </a:rPr>
              <a:t>DevOps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0328" y="4142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F49"/>
                </a:solidFill>
              </a:rPr>
              <a:t>PM2 · Nginx · npm run migrate · node:test + pg-mem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F8A48"/>
          </a:solidFill>
          <a:ln w="12700">
            <a:solidFill>
              <a:srgbClr val="5F8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modele akan değerler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Polen Asistanı'nın sistem promptu her istekte canlı olarak inşa edilir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292608" cy="292608"/>
          </a:xfrm>
          <a:prstGeom prst="ellipse">
            <a:avLst/>
          </a:prstGeom>
          <a:solidFill>
            <a:srgbClr val="BD9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399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3220"/>
                </a:solidFill>
              </a:rPr>
              <a:t>Dil kilidi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618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F49"/>
                </a:solidFill>
              </a:rPr>
              <a:t>"SADECE TÜRKÇE" — model dil kaymasından arındırılır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965960"/>
            <a:ext cx="292608" cy="292608"/>
          </a:xfrm>
          <a:prstGeom prst="ellipse">
            <a:avLst/>
          </a:prstGeom>
          <a:solidFill>
            <a:srgbClr val="BD9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3220"/>
                </a:solidFill>
              </a:rPr>
              <a:t>Kimlik &amp; kişiselleştirme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121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F49"/>
                </a:solidFill>
              </a:rPr>
              <a:t>"Sen Polen Asistanı'sın" · kullanıcı konumu · alerjen listesi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468880"/>
            <a:ext cx="292608" cy="292608"/>
          </a:xfrm>
          <a:prstGeom prst="ellipse">
            <a:avLst/>
          </a:prstGeom>
          <a:solidFill>
            <a:srgbClr val="BD9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404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3220"/>
                </a:solidFill>
              </a:rPr>
              <a:t>RAG bağlamı (k=3)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624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F49"/>
                </a:solidFill>
              </a:rPr>
              <a:t>Bilimsel makale parçaları + benzerlik skorları + (Kaynak [n]) referansı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971800"/>
            <a:ext cx="292608" cy="292608"/>
          </a:xfrm>
          <a:prstGeom prst="ellipse">
            <a:avLst/>
          </a:prstGeom>
          <a:solidFill>
            <a:srgbClr val="BD9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3220"/>
                </a:solidFill>
              </a:rPr>
              <a:t>Canlı polen verileri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127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F49"/>
                </a:solidFill>
              </a:rPr>
              <a:t>Bugünün indeks değerleri (0–5) — alerjen-özelinde sayısal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3474720"/>
            <a:ext cx="292608" cy="292608"/>
          </a:xfrm>
          <a:prstGeom prst="ellipse">
            <a:avLst/>
          </a:prstGeom>
          <a:solidFill>
            <a:srgbClr val="BD9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410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3220"/>
                </a:solidFill>
              </a:rPr>
              <a:t>Halüsinasyon karşıtı kurallar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630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F49"/>
                </a:solidFill>
              </a:rPr>
              <a:t>Veri yoksa uydurma · ilaç önerme · ciddi belirtide doktora yönlendir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BD9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3220"/>
                </a:solidFill>
              </a:rPr>
              <a:t>Sohbet geçmişi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133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F49"/>
                </a:solidFill>
              </a:rPr>
              <a:t>Son ~10 mesaj + son kullanıcı mesajına dil kilidi yeniden iliştirilir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1371600"/>
            <a:ext cx="3657600" cy="3383280"/>
          </a:xfrm>
          <a:prstGeom prst="rect">
            <a:avLst/>
          </a:prstGeom>
          <a:solidFill>
            <a:srgbClr val="283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1463040"/>
            <a:ext cx="3429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DİL KURALI: SADECE TÜRKÇE
# KİMLİK: Polen Asistanı
Konum: ${locationName}
Alerjenler: ${allergens}
## BILIMSEL KAYNAKLAR
[1] Kaynak (s.X) — sim 0.87
"..."
[2] Kaynak (s.Y) — sim 0.81
"..."
## ANLIK POLEN (bugün)
Çimen: 3/5  · Zeytin: 4/5
Pelin: 2/5  · Meşe: 1/5
# KURALLAR
- Veri yoksa uydurma
- Numerik değere dayan
- Tıbbi tanı koyma
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492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9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inşa: backend/routes/chat.js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F8A48"/>
          </a:solidFill>
          <a:ln w="12700">
            <a:solidFill>
              <a:srgbClr val="5F8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 çoklu fallback — sistem ayakta kalır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023360" cy="320040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4023360" cy="502920"/>
          </a:xfrm>
          <a:prstGeom prst="rect">
            <a:avLst/>
          </a:prstGeom>
          <a:solidFill>
            <a:srgbClr val="5F8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Polen 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20"/>
                </a:solidFill>
              </a:rPr>
              <a:t>1. Google Pollen — anahtar #1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20"/>
                </a:solidFill>
              </a:rPr>
              <a:t>2. Anahtar tükendi → #2, #3, ...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20"/>
                </a:solidFill>
              </a:rPr>
              <a:t>3. Tümü tükendi → Open-Meteo CAMS Europe (anahtarsız)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17F"/>
                </a:solidFill>
              </a:rPr>
              <a:t>X-Pollen-Source yanıt header'ı hangi sağlayıcının dönüldüğünü söyler.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4023360" cy="320040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63040"/>
            <a:ext cx="4023360" cy="502920"/>
          </a:xfrm>
          <a:prstGeom prst="rect">
            <a:avLst/>
          </a:prstGeom>
          <a:solidFill>
            <a:srgbClr val="5F8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Groq LLM matrisi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20"/>
                </a:solidFill>
              </a:rPr>
              <a:t>1. llama-3.3-70b-versatile × tüm anahtarlar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560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20"/>
                </a:solidFill>
              </a:rPr>
              <a:t>2. llama-4-scout × tüm anahtarlar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3220"/>
                </a:solidFill>
              </a:rPr>
              <a:t>3. openai/gpt-oss-120b → 20b (son çare)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4023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17F"/>
                </a:solidFill>
              </a:rPr>
              <a:t>429/401/403 → o (anahtar, model) çifti süreli bloklanır, sıradaki çift denenir.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F8A48"/>
          </a:solidFill>
          <a:ln w="12700">
            <a:solidFill>
              <a:srgbClr val="5F8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Üyelik &amp; günlük kota — üç katman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333756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8C917F"/>
                </a:solidFill>
              </a:rPr>
              <a:t>MİSAFİR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3220"/>
                </a:solidFill>
              </a:rPr>
              <a:t>—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F49"/>
                </a:solidFill>
              </a:rPr>
              <a:t>IP bazlı, kayıtsız deneme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154680"/>
            <a:ext cx="2194560" cy="0"/>
          </a:xfrm>
          <a:prstGeom prst="line">
            <a:avLst/>
          </a:prstGeom>
          <a:noFill/>
          <a:ln w="6350">
            <a:solidFill>
              <a:srgbClr val="E7DE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F49"/>
                </a:solidFill>
              </a:rPr>
              <a:t>Polen sorgusu / gün: 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F49"/>
                </a:solidFill>
              </a:rPr>
              <a:t>Sohbet mesajı / gün:  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417320"/>
            <a:ext cx="2651760" cy="333756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8C917F"/>
                </a:solidFill>
              </a:rPr>
              <a:t>ÜCRETSİZ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3220"/>
                </a:solidFill>
              </a:rPr>
              <a:t>₺0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1188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F49"/>
                </a:solidFill>
              </a:rPr>
              <a:t>Kayıt + JWT (7 gün)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11880" y="3154680"/>
            <a:ext cx="2194560" cy="0"/>
          </a:xfrm>
          <a:prstGeom prst="line">
            <a:avLst/>
          </a:prstGeom>
          <a:noFill/>
          <a:ln w="6350">
            <a:solidFill>
              <a:srgbClr val="E7DE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F49"/>
                </a:solidFill>
              </a:rPr>
              <a:t>Polen sorgusu / gün:  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188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F49"/>
                </a:solidFill>
              </a:rPr>
              <a:t>Sohbet mesajı / gün:  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2651760" cy="3337560"/>
          </a:xfrm>
          <a:prstGeom prst="rect">
            <a:avLst/>
          </a:prstGeom>
          <a:solidFill>
            <a:srgbClr val="5F8A48"/>
          </a:solidFill>
          <a:ln w="12700">
            <a:solidFill>
              <a:srgbClr val="5F8A4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1EBDD"/>
                </a:solidFill>
              </a:rPr>
              <a:t>PREMIUM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₺49,99 / ay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4652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EBDD"/>
                </a:solidFill>
              </a:rPr>
              <a:t>iyzico — tek anahtarla canlıya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154680"/>
            <a:ext cx="219456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Polen sorgusu / gün:  ∞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Sohbet mesajı / gün:  ∞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D9A4E"/>
                </a:solidFill>
              </a:rPr>
              <a:t>ÖNERİLEN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F8A48"/>
          </a:solidFill>
          <a:ln w="12700">
            <a:solidFill>
              <a:srgbClr val="5F8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Atomik günlük kota — yarış koşulsuz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83220"/>
                </a:solidFill>
              </a:rPr>
              <a:t>Sayaç (subject, usage_date) PK'lı bir tabloda tutulur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83220"/>
                </a:solidFill>
              </a:rPr>
              <a:t>subject = 'user:&lt;id&gt;' (üye) veya 'ip:&lt;addr&gt;' (misafir)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83220"/>
                </a:solidFill>
              </a:rPr>
              <a:t>İki adımlı atomik desen — FOR UPDATE'siz</a:t>
            </a:r>
            <a:endParaRPr lang="en-US" sz="13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83220"/>
                </a:solidFill>
              </a:rPr>
              <a:t>Adım 1: satırı garanti et (INSERT … ON CONFLICT DO NOTHING)</a:t>
            </a:r>
            <a:endParaRPr lang="en-US" sz="13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83220"/>
                </a:solidFill>
              </a:rPr>
              <a:t>Adım 2: koşullu artır (UPDATE … WHERE col &lt; limit RETURNING col)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83220"/>
                </a:solidFill>
              </a:rPr>
              <a:t>RETURNING boş → kota dolu → HTTP 429 + { code:'QUOTA_EXCEEDED' 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0" y="1417320"/>
            <a:ext cx="3657600" cy="3337560"/>
          </a:xfrm>
          <a:prstGeom prst="rect">
            <a:avLst/>
          </a:prstGeom>
          <a:solidFill>
            <a:srgbClr val="2832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508760"/>
            <a:ext cx="3474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Adım 1: bugünün satırını garanti 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usage_daily (subject, usage_date)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($1, CURRENT_DATE)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CONFLICT (subject, usage_date) DO NOTHING;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Adım 2: yalnızca limit altındaysa atomik artır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usage_daily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SET pollen_count = pollen_count + 1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subject    = $1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usage_date  = CURRENT_DATE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pollen_count &lt; $2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 pollen_count AS used;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F8A48"/>
          </a:solidFill>
          <a:ln w="12700">
            <a:solidFill>
              <a:srgbClr val="5F8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dashboard — hardcoded veri YOK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141732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8A48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220"/>
                </a:solidFill>
              </a:rPr>
              <a:t>Risk hero kartı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F49"/>
                </a:solidFill>
              </a:rPr>
              <a:t>Düşük / Orta / Yüksek + alerjen-özelinde aksiyon cümlesi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651760" cy="141732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8A48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6908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220"/>
                </a:solidFill>
              </a:rPr>
              <a:t>24 saatlik grafik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69080" y="19659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F49"/>
                </a:solidFill>
              </a:rPr>
              <a:t>Recharts AreaChart — tıklanabilir efsane, en riskli tür varsayılan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651760" cy="141732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8A48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0372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220"/>
                </a:solidFill>
              </a:rPr>
              <a:t>Serbest harita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19659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F49"/>
                </a:solidFill>
              </a:rPr>
              <a:t>Leaflet — şehir snap'i yok, ham koordinatla Google'a gider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2651760" cy="141732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8A48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220"/>
                </a:solidFill>
              </a:rPr>
              <a:t>5 günlük tahmin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520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F49"/>
                </a:solidFill>
              </a:rPr>
              <a:t>Risk şeridi — renk-kodlu, hover ile detay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971800"/>
            <a:ext cx="2651760" cy="141732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204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8A48"/>
                </a:solidFill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6908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220"/>
                </a:solidFill>
              </a:rPr>
              <a:t>Alerjen seçimi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69080" y="3520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F49"/>
                </a:solidFill>
              </a:rPr>
              <a:t>Profilde çoklu seçim — uyarılar ve grafik buna göre güncellenir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651760" cy="141732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8A48"/>
                </a:solidFill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220"/>
                </a:solidFill>
              </a:rPr>
              <a:t>Polen Asistanı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3520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F49"/>
                </a:solidFill>
              </a:rPr>
              <a:t>Konum + alerjen + anlık polen + RAG ile bağlamlı sohbet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F8A48"/>
          </a:solidFill>
          <a:ln w="12700">
            <a:solidFill>
              <a:srgbClr val="5F8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sistemi — sıcak, profesyonel, tutarlı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463040" cy="1143000"/>
          </a:xfrm>
          <a:prstGeom prst="rect">
            <a:avLst/>
          </a:prstGeom>
          <a:solidFill>
            <a:srgbClr val="FFFDF7"/>
          </a:solidFill>
          <a:ln w="12700">
            <a:solidFill>
              <a:srgbClr val="E7DEC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3220"/>
                </a:solidFill>
              </a:rPr>
              <a:t>Sıcak beyaz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#FFFDF7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94560" y="1417320"/>
            <a:ext cx="1463040" cy="114300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3220"/>
                </a:solidFill>
              </a:rPr>
              <a:t>Sıcak krem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#F1EBDD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1417320"/>
            <a:ext cx="1463040" cy="1143000"/>
          </a:xfrm>
          <a:prstGeom prst="rect">
            <a:avLst/>
          </a:prstGeom>
          <a:solidFill>
            <a:srgbClr val="5F8A48"/>
          </a:solidFill>
          <a:ln w="12700">
            <a:solidFill>
              <a:srgbClr val="E7DEC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3220"/>
                </a:solidFill>
              </a:rPr>
              <a:t>Sage (birincil)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#5F8A48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417320"/>
            <a:ext cx="1463040" cy="1143000"/>
          </a:xfrm>
          <a:prstGeom prst="rect">
            <a:avLst/>
          </a:prstGeom>
          <a:solidFill>
            <a:srgbClr val="BD9A4E"/>
          </a:solidFill>
          <a:ln w="12700">
            <a:solidFill>
              <a:srgbClr val="E7DEC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3220"/>
                </a:solidFill>
              </a:rPr>
              <a:t>Altın bej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#BD9A4E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32320" y="1417320"/>
            <a:ext cx="1463040" cy="1143000"/>
          </a:xfrm>
          <a:prstGeom prst="rect">
            <a:avLst/>
          </a:prstGeom>
          <a:solidFill>
            <a:srgbClr val="283220"/>
          </a:solidFill>
          <a:ln w="12700">
            <a:solidFill>
              <a:srgbClr val="E7DEC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3220"/>
                </a:solidFill>
              </a:rPr>
              <a:t>Derin orman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#283220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25F49"/>
                </a:solidFill>
              </a:rPr>
              <a:t>Sıcak beyaz yüzeyler (#FFFDF7) — klinik #FFF yerine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25F49"/>
                </a:solidFill>
              </a:rPr>
              <a:t>Katmanlı sıcak-tonlu gölgeler — kontak + ambient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25F49"/>
                </a:solidFill>
              </a:rPr>
              <a:t>Yüzey üst-parlaklığı (inset 1px) — premium his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25F49"/>
                </a:solidFill>
              </a:rPr>
              <a:t>Üstten nazik aydınlanma gradyanı + ince film greni dokusu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25F49"/>
                </a:solidFill>
              </a:rPr>
              <a:t>Inter -0.006em letter-spacing — okunaklılık + karakter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25F49"/>
                </a:solidFill>
              </a:rPr>
              <a:t>Açık / koyu tema yapısal olarak eşleşir (aynı token isimleri)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F8A48"/>
          </a:solidFill>
          <a:ln w="12700">
            <a:solidFill>
              <a:srgbClr val="5F8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Benzerlerinden farkı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Özellik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Genel polen uygulamaları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Alerji Takip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A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3220"/>
                          </a:solidFill>
                        </a:rPr>
                        <a:t>Türkçe + Türkiye verisi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C917F"/>
                          </a:solidFill>
                        </a:rPr>
                        <a:t>Kısmi / İngilizce ağırlıklı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F8A48"/>
                          </a:solidFill>
                        </a:rPr>
                        <a:t>Tam yerel — TR illeri + Türkçe asistan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3220"/>
                          </a:solidFill>
                        </a:rPr>
                        <a:t>Çoklu sağlayıcı fallback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C917F"/>
                          </a:solidFill>
                        </a:rPr>
                        <a:t>Genelde tek 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F8A48"/>
                          </a:solidFill>
                        </a:rPr>
                        <a:t>Google → Open-Meteo (kesintisiz)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3220"/>
                          </a:solidFill>
                        </a:rPr>
                        <a:t>AI asistan — kaynaklı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C917F"/>
                          </a:solidFill>
                        </a:rPr>
                        <a:t>Yok ya da kaynaksız genel chat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F8A48"/>
                          </a:solidFill>
                        </a:rPr>
                        <a:t>RAG + canlı polen + dil kilidi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3220"/>
                          </a:solidFill>
                        </a:rPr>
                        <a:t>Adil kota modeli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C917F"/>
                          </a:solidFill>
                        </a:rPr>
                        <a:t>Hep ya tamamen açık ya paywall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F8A48"/>
                          </a:solidFill>
                        </a:rPr>
                        <a:t>Misafir 3 / üye 10 / premium ∞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3220"/>
                          </a:solidFill>
                        </a:rPr>
                        <a:t>Açık + koyu tema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C917F"/>
                          </a:solidFill>
                        </a:rPr>
                        <a:t>Genelde sadece açık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F8A48"/>
                          </a:solidFill>
                        </a:rPr>
                        <a:t>Token tabanlı, yapısal eşleşen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83220"/>
                          </a:solidFill>
                        </a:rPr>
                        <a:t>Yerel ödeme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C917F"/>
                          </a:solidFill>
                        </a:rPr>
                        <a:t>Stripe ağırlıklı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F8A48"/>
                          </a:solidFill>
                        </a:rPr>
                        <a:t>iyzico (Türkiye-yerel)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F8A48"/>
          </a:solidFill>
          <a:ln w="12700">
            <a:solidFill>
              <a:srgbClr val="5F8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3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deployment — üretime hazır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023360" cy="333756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4023360" cy="502920"/>
          </a:xfrm>
          <a:prstGeom prst="rect">
            <a:avLst/>
          </a:prstGeom>
          <a:solidFill>
            <a:srgbClr val="5F8A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Test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25F49"/>
                </a:solidFill>
              </a:rPr>
              <a:t>node:test — yerleşik, ek çatı yok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25F49"/>
                </a:solidFill>
              </a:rPr>
              <a:t>pg-mem ile in-process Postgres (devDep)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25F49"/>
                </a:solidFill>
              </a:rPr>
              <a:t>4 test, 4 geçti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25F49"/>
                </a:solidFill>
              </a:rPr>
              <a:t>Kapsam: kullanıcı CRUD + premium yaşam döngüsü + atomik kota (3 senaryo)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25F49"/>
                </a:solidFill>
              </a:rPr>
              <a:t>Çalıştır: npm test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4023360" cy="3337560"/>
          </a:xfrm>
          <a:prstGeom prst="rect">
            <a:avLst/>
          </a:prstGeom>
          <a:solidFill>
            <a:srgbClr val="F1EBDD"/>
          </a:solidFill>
          <a:ln w="12700">
            <a:solidFill>
              <a:srgbClr val="E7DE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417320"/>
            <a:ext cx="4023360" cy="502920"/>
          </a:xfrm>
          <a:prstGeom prst="rect">
            <a:avLst/>
          </a:prstGeom>
          <a:solidFill>
            <a:srgbClr val="BD9A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Deployment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83480" y="21031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25F49"/>
                </a:solidFill>
              </a:rPr>
              <a:t>PM2 — graceful shutdown (SIGTERM, DB pool kapatılır)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25F49"/>
                </a:solidFill>
              </a:rPr>
              <a:t>Nginx — / → frontend, /api → 3001 proxy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25F49"/>
                </a:solidFill>
              </a:rPr>
              <a:t>/api/health — DB ping ile sağlık kontrolü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25F49"/>
                </a:solidFill>
              </a:rPr>
              <a:t>config/env fail-fast — eksik JWT_SECRET açılışı durdurur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25F49"/>
                </a:solidFill>
              </a:rPr>
              <a:t>Tek komut migration: npm run migrate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83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1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2A06D"/>
                </a:solidFill>
              </a:rPr>
              <a:t>Alerji Takip — niş bir problem, profesyonel bir çözüm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D9A4E"/>
                </a:solidFill>
              </a:rPr>
              <a:t>16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BDD"/>
                </a:solidFill>
              </a:rPr>
              <a:t>REST endpoint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51760" y="3200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D9A4E"/>
                </a:solidFill>
              </a:rPr>
              <a:t>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65176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BDD"/>
                </a:solidFill>
              </a:rPr>
              <a:t>veri tablosu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3200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D9A4E"/>
                </a:solidFill>
              </a:rPr>
              <a:t>4 / 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5488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BDD"/>
                </a:solidFill>
              </a:rPr>
              <a:t>test geçti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D9A4E"/>
                </a:solidFill>
              </a:rPr>
              <a:t>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85800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EBDD"/>
                </a:solidFill>
              </a:rPr>
              <a:t>sağlayıcı fallback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1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Belgeler: docs/REQUIREMENTS · docs/DESIGN · docs/TESTING · docs/PROJECT_REPORT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Alerji Takip — Proje Sunumu</dc:title>
  <dc:subject>PptxGenJS Presentation</dc:subject>
  <dc:creator>Alerji Takip</dc:creator>
  <cp:lastModifiedBy>Alerji Takip</cp:lastModifiedBy>
  <cp:revision>1</cp:revision>
  <dcterms:created xsi:type="dcterms:W3CDTF">2026-06-02T14:56:06Z</dcterms:created>
  <dcterms:modified xsi:type="dcterms:W3CDTF">2026-06-02T14:56:06Z</dcterms:modified>
</cp:coreProperties>
</file>